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Geo"/>
      <p:regular r:id="rId16"/>
      <p:italic r:id="rId17"/>
    </p:embeddedFont>
    <p:embeddedFont>
      <p:font typeface="Fira Sans Extra Condensed Medium"/>
      <p:regular r:id="rId18"/>
      <p:bold r:id="rId19"/>
      <p:italic r:id="rId20"/>
      <p:boldItalic r:id="rId21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" Type="http://schemas.openxmlformats.org/officeDocument/2006/relationships/theme" Target="theme/theme2.xml" /><Relationship Id="rId2" Type="http://schemas.openxmlformats.org/officeDocument/2006/relationships/presProps" Target="presProps.xml" /><Relationship Id="rId3" Type="http://schemas.openxmlformats.org/officeDocument/2006/relationships/slideMaster" Target="slideMasters/slideMaster1.xml" /><Relationship Id="rId20" Type="http://schemas.openxmlformats.org/officeDocument/2006/relationships/font" Target="fonts/FiraSansExtraCondensedMedium-italic.fntdata" /><Relationship Id="rId19" Type="http://schemas.openxmlformats.org/officeDocument/2006/relationships/font" Target="fonts/FiraSansExtraCondensedMedium-bold.fntdata" /><Relationship Id="rId21" Type="http://schemas.openxmlformats.org/officeDocument/2006/relationships/font" Target="fonts/FiraSansExtraCondensedMedium-boldItalic.fntdata" /><Relationship Id="rId18" Type="http://schemas.openxmlformats.org/officeDocument/2006/relationships/font" Target="fonts/FiraSansExtraCondensedMedium-regular.fntdata" /><Relationship Id="rId16" Type="http://schemas.openxmlformats.org/officeDocument/2006/relationships/font" Target="fonts/Geo-regular.fntdata" /><Relationship Id="rId17" Type="http://schemas.openxmlformats.org/officeDocument/2006/relationships/font" Target="fonts/Geo-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theme/theme2.xml" Type="http://schemas.openxmlformats.org/officeDocument/2006/relationships/theme" /><Relationship Id="rId7" Type="http://schemas.openxmlformats.org/officeDocument/2006/relationships/slideLayout" Target="../slideLayouts/slideLayout3.xml" /><Relationship Id="rId6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i="0" strike="noStrike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i="0" strike="noStrike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i="0" strike="noStrike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3" r:id="rId7"/>
    <p:sldLayoutId id="2147483652" r:id="rId6"/>
    <p:sldLayoutId id="2147483651" r:id="rId5"/>
    <p:sldLayoutId id="2147483650" r:id="rId4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Pulse of Production: Mastering Industrial Git &amp; Workflow Patterns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Content Outline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Title:</a:t>
            </a:r>
            <a:r>
              <a:rPr/>
              <a:t> Beyond the Commit</a:t>
            </a:r>
          </a:p>
          <a:p>
            <a:pPr lvl="0"/>
            <a:r>
              <a:rPr b="1"/>
              <a:t>Subtitle:</a:t>
            </a:r>
            <a:r>
              <a:rPr/>
              <a:t> Architecting Scalable Workflows with Git Flow</a:t>
            </a:r>
          </a:p>
          <a:p>
            <a:pPr lvl="0"/>
            <a:r>
              <a:rPr b="1"/>
              <a:t>Presented by:</a:t>
            </a:r>
            <a:r>
              <a:rPr/>
              <a:t> [Your Name]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“Industry Git” is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  <a:r>
              <a:rPr/>
              <a:t> “It works on my machine” vs. “It broke the production server.”</a:t>
            </a:r>
          </a:p>
          <a:p>
            <a:pPr lvl="0"/>
            <a:r>
              <a:rPr b="1"/>
              <a:t>Key Differences:</a:t>
            </a:r>
          </a:p>
          <a:p>
            <a:pPr lvl="1"/>
            <a:r>
              <a:rPr b="1"/>
              <a:t>Auditability:</a:t>
            </a:r>
            <a:r>
              <a:rPr/>
              <a:t> Knowing </a:t>
            </a:r>
            <a:r>
              <a:rPr i="1"/>
              <a:t>who</a:t>
            </a:r>
            <a:r>
              <a:rPr/>
              <a:t> changed </a:t>
            </a:r>
            <a:r>
              <a:rPr i="1"/>
              <a:t>what</a:t>
            </a:r>
            <a:r>
              <a:rPr/>
              <a:t> and </a:t>
            </a:r>
            <a:r>
              <a:rPr i="1"/>
              <a:t>why</a:t>
            </a:r>
            <a:r>
              <a:rPr/>
              <a:t>.</a:t>
            </a:r>
          </a:p>
          <a:p>
            <a:pPr lvl="1"/>
            <a:r>
              <a:rPr b="1"/>
              <a:t>Automation:</a:t>
            </a:r>
            <a:r>
              <a:rPr/>
              <a:t> Integrating with CI/CD pipelines.</a:t>
            </a:r>
          </a:p>
          <a:p>
            <a:pPr lvl="1"/>
            <a:r>
              <a:rPr b="1"/>
              <a:t>Scale:</a:t>
            </a:r>
            <a:r>
              <a:rPr/>
              <a:t> Handling 50+ developers on a single codebase without chaos.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Golden Rules of Professional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Atomic Commits:</a:t>
            </a:r>
            <a:r>
              <a:rPr/>
              <a:t> One logical change per commit (easier to revert).</a:t>
            </a:r>
          </a:p>
          <a:p>
            <a:pPr lvl="0"/>
            <a:r>
              <a:rPr b="1"/>
              <a:t>Meaningful Messages:</a:t>
            </a:r>
            <a:r>
              <a:rPr/>
              <a:t> Avoid “fixed bug.” Use “Fix(Auth): Resolve timeout in login handler.”</a:t>
            </a:r>
          </a:p>
          <a:p>
            <a:pPr lvl="0"/>
            <a:r>
              <a:rPr b="1"/>
              <a:t>Never Commit to Main:</a:t>
            </a:r>
            <a:r>
              <a:rPr/>
              <a:t> Protecting the “Source of Truth.”</a:t>
            </a:r>
          </a:p>
          <a:p>
            <a:pPr lvl="0"/>
            <a:r>
              <a:rPr b="1"/>
              <a:t>Pull Requests (PRs):</a:t>
            </a:r>
            <a:r>
              <a:rPr/>
              <a:t> The gateway for peer review and quality control.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to Git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A strict branching model designed around the project release.</a:t>
            </a:r>
          </a:p>
          <a:p>
            <a:pPr lvl="0"/>
            <a:r>
              <a:rPr b="1"/>
              <a:t>The Permanent Branches:</a:t>
            </a:r>
          </a:p>
          <a:p>
            <a:pPr lvl="1"/>
            <a:r>
              <a:rPr b="1">
                <a:latin typeface="Courier"/>
              </a:rPr>
              <a:t>main</a:t>
            </a:r>
            <a:r>
              <a:rPr b="1"/>
              <a:t>:</a:t>
            </a:r>
            <a:r>
              <a:rPr/>
              <a:t> Production-ready code. </a:t>
            </a:r>
            <a:r>
              <a:rPr b="1"/>
              <a:t>The Source of Truth.</a:t>
            </a:r>
          </a:p>
          <a:p>
            <a:pPr lvl="1"/>
            <a:r>
              <a:rPr b="1">
                <a:latin typeface="Courier"/>
              </a:rPr>
              <a:t>develop</a:t>
            </a:r>
            <a:r>
              <a:rPr b="1"/>
              <a:t>:</a:t>
            </a:r>
            <a:r>
              <a:rPr/>
              <a:t> Integration branch. </a:t>
            </a:r>
            <a:r>
              <a:rPr b="1"/>
              <a:t>The bleeding edge of features.</a:t>
            </a:r>
          </a:p>
          <a:p>
            <a:pPr lvl="0"/>
            <a:r>
              <a:rPr b="1"/>
              <a:t>The Support Branches:</a:t>
            </a:r>
          </a:p>
          <a:p>
            <a:pPr lvl="1"/>
            <a:r>
              <a:rPr>
                <a:latin typeface="Courier"/>
              </a:rPr>
              <a:t>feature/*</a:t>
            </a:r>
            <a:r>
              <a:rPr/>
              <a:t>: Developing new stuff.</a:t>
            </a:r>
          </a:p>
          <a:p>
            <a:pPr lvl="1"/>
            <a:r>
              <a:rPr>
                <a:latin typeface="Courier"/>
              </a:rPr>
              <a:t>release/*</a:t>
            </a:r>
            <a:r>
              <a:rPr/>
              <a:t>: Preparing for launch (Stabilization).</a:t>
            </a:r>
          </a:p>
          <a:p>
            <a:pPr lvl="1"/>
            <a:r>
              <a:rPr>
                <a:latin typeface="Courier"/>
              </a:rPr>
              <a:t>hotfix/*</a:t>
            </a:r>
            <a:r>
              <a:rPr/>
              <a:t>: Quick fixes for prod.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Branching Policy &amp; Restrictions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Strict Rules to Maintain Sanity:</a:t>
            </a:r>
          </a:p>
          <a:p>
            <a:pPr lvl="1"/>
            <a:r>
              <a:rPr b="1"/>
              <a:t>Feature Branches (</a:t>
            </a:r>
            <a:r>
              <a:rPr b="1">
                <a:latin typeface="Courier"/>
              </a:rPr>
              <a:t>feature/*</a:t>
            </a:r>
            <a:r>
              <a:rPr b="1"/>
              <a:t>)</a:t>
            </a:r>
            <a:r>
              <a:rPr/>
              <a:t> → Can ONLY merge into </a:t>
            </a:r>
            <a:r>
              <a:rPr b="1">
                <a:latin typeface="Courier"/>
              </a:rPr>
              <a:t>develop</a:t>
            </a:r>
            <a:r>
              <a:rPr/>
              <a:t>.</a:t>
            </a:r>
          </a:p>
          <a:p>
            <a:pPr lvl="1"/>
            <a:r>
              <a:rPr b="1"/>
              <a:t>Bugfix Branches (</a:t>
            </a:r>
            <a:r>
              <a:rPr b="1">
                <a:latin typeface="Courier"/>
              </a:rPr>
              <a:t>bugfix/*</a:t>
            </a:r>
            <a:r>
              <a:rPr b="1"/>
              <a:t>)</a:t>
            </a:r>
            <a:r>
              <a:rPr/>
              <a:t> → Can ONLY merge into </a:t>
            </a:r>
            <a:r>
              <a:rPr b="1">
                <a:latin typeface="Courier"/>
              </a:rPr>
              <a:t>release/*</a:t>
            </a:r>
            <a:r>
              <a:rPr/>
              <a:t>.</a:t>
            </a:r>
          </a:p>
          <a:p>
            <a:pPr lvl="1"/>
            <a:r>
              <a:rPr b="1"/>
              <a:t>Hotfix Branches (</a:t>
            </a:r>
            <a:r>
              <a:rPr b="1">
                <a:latin typeface="Courier"/>
              </a:rPr>
              <a:t>hotfix/*</a:t>
            </a:r>
            <a:r>
              <a:rPr b="1"/>
              <a:t>)</a:t>
            </a:r>
            <a:r>
              <a:rPr/>
              <a:t> → Can merge into </a:t>
            </a:r>
            <a:r>
              <a:rPr b="1">
                <a:latin typeface="Courier"/>
              </a:rPr>
              <a:t>main</a:t>
            </a:r>
            <a:r>
              <a:rPr/>
              <a:t> AND </a:t>
            </a:r>
            <a:r>
              <a:rPr b="1">
                <a:latin typeface="Courier"/>
              </a:rPr>
              <a:t>develop</a:t>
            </a:r>
            <a:r>
              <a:rPr/>
              <a:t>.</a:t>
            </a:r>
          </a:p>
          <a:p>
            <a:pPr lvl="0"/>
            <a:r>
              <a:rPr b="1"/>
              <a:t>Why?</a:t>
            </a:r>
            <a:r>
              <a:rPr/>
              <a:t> Prevents unstable features from leaking into release candidates or production.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Conventional Commits - The API of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  <a:r>
              <a:rPr/>
              <a:t> </a:t>
            </a:r>
            <a:r>
              <a:rPr>
                <a:latin typeface="Courier"/>
              </a:rPr>
              <a:t>git log</a:t>
            </a:r>
            <a:r>
              <a:rPr/>
              <a:t> looking like “wip”, “fix”, “please work”.</a:t>
            </a:r>
          </a:p>
          <a:p>
            <a:pPr lvl="0"/>
            <a:r>
              <a:rPr b="1"/>
              <a:t>The Solution:</a:t>
            </a:r>
            <a:r>
              <a:rPr/>
              <a:t> A structured format for commit messages.</a:t>
            </a:r>
          </a:p>
          <a:p>
            <a:pPr lvl="0"/>
            <a:r>
              <a:rPr b="1"/>
              <a:t>Format:</a:t>
            </a:r>
            <a:r>
              <a:rPr/>
              <a:t> </a:t>
            </a:r>
            <a:r>
              <a:rPr>
                <a:latin typeface="Courier"/>
              </a:rPr>
              <a:t>&lt;type&gt;(&lt;scope&gt;): &lt;subject&gt;</a:t>
            </a:r>
          </a:p>
          <a:p>
            <a:pPr lvl="1"/>
            <a:r>
              <a:rPr>
                <a:latin typeface="Courier"/>
              </a:rPr>
              <a:t>feat(auth): add google oauth login</a:t>
            </a:r>
          </a:p>
          <a:p>
            <a:pPr lvl="1"/>
            <a:r>
              <a:rPr>
                <a:latin typeface="Courier"/>
              </a:rPr>
              <a:t>fix(db): resolve connection leak</a:t>
            </a:r>
          </a:p>
          <a:p>
            <a:pPr lvl="0"/>
            <a:r>
              <a:rPr b="1"/>
              <a:t>Crucial for PRs:</a:t>
            </a:r>
            <a:r>
              <a:rPr/>
              <a:t> In this pipeline, </a:t>
            </a:r>
            <a:r>
              <a:rPr b="1"/>
              <a:t>PR Titles</a:t>
            </a:r>
            <a:r>
              <a:rPr/>
              <a:t> must follow this format because they become the final history (Squash &amp; Merge).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Semantic Versioning (SemVer)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Communicating Change through Numbers:</a:t>
            </a:r>
            <a:r>
              <a:rPr/>
              <a:t> </a:t>
            </a:r>
            <a:r>
              <a:rPr>
                <a:latin typeface="Courier"/>
              </a:rPr>
              <a:t>MAJOR.MINOR.PATCH</a:t>
            </a:r>
          </a:p>
          <a:p>
            <a:pPr lvl="1"/>
            <a:r>
              <a:rPr b="1"/>
              <a:t>MAJOR (1.0.0):</a:t>
            </a:r>
            <a:r>
              <a:rPr/>
              <a:t> Breaking changes.</a:t>
            </a:r>
          </a:p>
          <a:p>
            <a:pPr lvl="1"/>
            <a:r>
              <a:rPr b="1"/>
              <a:t>MINOR (1.1.0):</a:t>
            </a:r>
            <a:r>
              <a:rPr/>
              <a:t> New features, backwards compatible.</a:t>
            </a:r>
          </a:p>
          <a:p>
            <a:pPr lvl="1"/>
            <a:r>
              <a:rPr b="1"/>
              <a:t>PATCH (1.0.1):</a:t>
            </a:r>
            <a:r>
              <a:rPr/>
              <a:t> Bug fixes, backwards compatible.</a:t>
            </a:r>
          </a:p>
          <a:p>
            <a:pPr lvl="0"/>
            <a:r>
              <a:rPr b="1"/>
              <a:t>Commit Type to Version Mapping: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feat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MINOR</a:t>
                      </a:r>
                      <a:r>
                        <a:rPr/>
                        <a:t> 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New Feature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fix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PATCH</a:t>
                      </a:r>
                      <a:r>
                        <a:rPr/>
                        <a:t> 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Bug Fix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perf / revert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Performance / Undo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BREAKING CHANGE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MAJOR</a:t>
                      </a:r>
                      <a:r>
                        <a:rPr/>
                        <a:t> 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(Footer) Breaking API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docs / style /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Release Triggered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Release Workflow (Not Every Push!)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Question:</a:t>
            </a:r>
            <a:r>
              <a:rPr/>
              <a:t> “Do we release on every push to </a:t>
            </a:r>
            <a:r>
              <a:rPr>
                <a:latin typeface="Courier"/>
              </a:rPr>
              <a:t>develop</a:t>
            </a:r>
            <a:r>
              <a:rPr/>
              <a:t>?”</a:t>
            </a:r>
          </a:p>
          <a:p>
            <a:pPr lvl="0"/>
            <a:r>
              <a:rPr b="1"/>
              <a:t>Answer:</a:t>
            </a:r>
            <a:r>
              <a:rPr/>
              <a:t> </a:t>
            </a:r>
            <a:r>
              <a:rPr b="1"/>
              <a:t>NO.</a:t>
            </a:r>
          </a:p>
          <a:p>
            <a:pPr lvl="1"/>
            <a:r>
              <a:rPr>
                <a:latin typeface="Courier"/>
              </a:rPr>
              <a:t>develop</a:t>
            </a:r>
            <a:r>
              <a:rPr/>
              <a:t> is for Continuous Integration (Tests, Dev Deployment).</a:t>
            </a:r>
          </a:p>
          <a:p>
            <a:pPr lvl="1"/>
            <a:r>
              <a:rPr b="1"/>
              <a:t>Releases are deliberate.</a:t>
            </a:r>
          </a:p>
          <a:p>
            <a:pPr lvl="0"/>
            <a:r>
              <a:rPr b="1"/>
              <a:t>The Flow:</a:t>
            </a:r>
          </a:p>
          <a:p>
            <a:pPr lvl="1" indent="0" marL="347663">
              <a:buAutoNum type="arabicPeriod"/>
            </a:pPr>
            <a:r>
              <a:rPr b="1"/>
              <a:t>Develop</a:t>
            </a:r>
            <a:r>
              <a:rPr/>
              <a:t>: Merge features, run tests automatically.</a:t>
            </a:r>
          </a:p>
          <a:p>
            <a:pPr lvl="1" indent="0" marL="347663">
              <a:buAutoNum type="arabicPeriod"/>
            </a:pPr>
            <a:r>
              <a:rPr b="1"/>
              <a:t>Freeze</a:t>
            </a:r>
            <a:r>
              <a:rPr/>
              <a:t>: Create </a:t>
            </a:r>
            <a:r>
              <a:rPr>
                <a:latin typeface="Courier"/>
              </a:rPr>
              <a:t>release/v1.0.0</a:t>
            </a:r>
            <a:r>
              <a:rPr/>
              <a:t> branch.</a:t>
            </a:r>
          </a:p>
          <a:p>
            <a:pPr lvl="1" indent="0" marL="347663">
              <a:buAutoNum type="arabicPeriod"/>
            </a:pPr>
            <a:r>
              <a:rPr b="1"/>
              <a:t>Stabilize</a:t>
            </a:r>
            <a:r>
              <a:rPr/>
              <a:t>: Fix bugs (</a:t>
            </a:r>
            <a:r>
              <a:rPr>
                <a:latin typeface="Courier"/>
              </a:rPr>
              <a:t>bugfix/*</a:t>
            </a:r>
            <a:r>
              <a:rPr/>
              <a:t>).</a:t>
            </a:r>
          </a:p>
          <a:p>
            <a:pPr lvl="1" indent="0" marL="347663">
              <a:buAutoNum type="arabicPeriod"/>
            </a:pPr>
            <a:r>
              <a:rPr b="1"/>
              <a:t>Launch</a:t>
            </a:r>
            <a:r>
              <a:rPr/>
              <a:t>: Merge to </a:t>
            </a:r>
            <a:r>
              <a:rPr>
                <a:latin typeface="Courier"/>
              </a:rPr>
              <a:t>main</a:t>
            </a:r>
            <a:r>
              <a:rPr/>
              <a:t>. Tag </a:t>
            </a:r>
            <a:r>
              <a:rPr>
                <a:latin typeface="Courier"/>
              </a:rPr>
              <a:t>v1.0.0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CI/CD Automation “What Now?”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“What Now” Phase:</a:t>
            </a:r>
            <a:r>
              <a:rPr/>
              <a:t> What happens after we tag </a:t>
            </a:r>
            <a:r>
              <a:rPr>
                <a:latin typeface="Courier"/>
              </a:rPr>
              <a:t>v1.0.0</a:t>
            </a:r>
            <a:r>
              <a:rPr/>
              <a:t>?</a:t>
            </a:r>
          </a:p>
          <a:p>
            <a:pPr lvl="0"/>
            <a:r>
              <a:rPr b="1"/>
              <a:t>Release Handler Workflow:</a:t>
            </a:r>
          </a:p>
          <a:p>
            <a:pPr lvl="1"/>
            <a:r>
              <a:rPr b="1"/>
              <a:t>Build Artifacts:</a:t>
            </a:r>
            <a:r>
              <a:rPr/>
              <a:t> Create executable binaries (Linux/Windows).</a:t>
            </a:r>
          </a:p>
          <a:p>
            <a:pPr lvl="1"/>
            <a:r>
              <a:rPr b="1"/>
              <a:t>Dockerize:</a:t>
            </a:r>
            <a:r>
              <a:rPr/>
              <a:t> Build and Push Docker image to Registry with tag </a:t>
            </a:r>
            <a:r>
              <a:rPr>
                <a:latin typeface="Courier"/>
              </a:rPr>
              <a:t>v1.0.0</a:t>
            </a:r>
            <a:r>
              <a:rPr/>
              <a:t>.</a:t>
            </a:r>
          </a:p>
          <a:p>
            <a:pPr lvl="1"/>
            <a:r>
              <a:rPr b="1"/>
              <a:t>Publish:</a:t>
            </a:r>
            <a:r>
              <a:rPr/>
              <a:t> Create GitHub Release with changelog and binaries.</a:t>
            </a:r>
          </a:p>
          <a:p>
            <a:pPr lvl="1"/>
            <a:r>
              <a:rPr b="1"/>
              <a:t>Deploy:</a:t>
            </a:r>
            <a:r>
              <a:rPr/>
              <a:t> Update production cluster to pull </a:t>
            </a:r>
            <a:r>
              <a:rPr>
                <a:latin typeface="Courier"/>
              </a:rPr>
              <a:t>image:v1.0.0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Summary:</a:t>
            </a:r>
            <a:r>
              <a:rPr/>
              <a:t> Git Flow + Conventional Commits + SemVer = Fully Automated, Reliable Releases.</a:t>
            </a:r>
          </a:p>
          <a:p>
            <a:pPr lvl="0"/>
            <a:r>
              <a:rPr b="1"/>
              <a:t>Final Thought:</a:t>
            </a:r>
            <a:r>
              <a:rPr/>
              <a:t> Automation allows us to focus on Code, not Choreography.</a:t>
            </a:r>
          </a:p>
          <a:p>
            <a:pPr lvl="0"/>
            <a:r>
              <a:rPr b="1"/>
              <a:t>Call to Action:</a:t>
            </a:r>
            <a:r>
              <a:rPr/>
              <a:t> Let’s adopt these checks today!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reng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25D26"/>
      </a:accent1>
      <a:accent2>
        <a:srgbClr val="F27304"/>
      </a:accent2>
      <a:accent3>
        <a:srgbClr val="F25D26"/>
      </a:accent3>
      <a:accent4>
        <a:srgbClr val="F27304"/>
      </a:accent4>
      <a:accent5>
        <a:srgbClr val="F25D26"/>
      </a:accent5>
      <a:accent6>
        <a:srgbClr val="F27304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2025-12-28T11:37:19Z</dcterms:created>
  <dcterms:modified xsi:type="dcterms:W3CDTF">2025-12-28T11:37:19Z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